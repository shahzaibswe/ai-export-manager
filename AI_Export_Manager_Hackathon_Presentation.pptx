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18872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284C7"/>
                </a:solidFill>
              </a:defRPr>
            </a:pPr>
            <a:r>
              <a:t>CORETECH INNOVATION | OFFICIAL NLP HACKATHON 2026 SUBMISSION</a:t>
            </a:r>
          </a:p>
          <a:p>
            <a:pPr>
              <a:defRPr sz="4600" b="1">
                <a:solidFill>
                  <a:srgbClr val="FFFFFF"/>
                </a:solidFill>
              </a:defRPr>
            </a:pPr>
            <a:r>
              <a:t>AI Export Manager</a:t>
            </a:r>
          </a:p>
          <a:p>
            <a:pPr>
              <a:spcAft>
                <a:spcPts val="2400"/>
              </a:spcAft>
              <a:defRPr sz="2100">
                <a:solidFill>
                  <a:srgbClr val="F59E0B"/>
                </a:solidFill>
              </a:defRPr>
            </a:pPr>
            <a:r>
              <a:t>From Urdu description to a live global listing on Alibaba and Amazon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Team Lead: Sufyan Arain | Shahzaib Sheikh | Sehar | Nimra | Zammad</a:t>
            </a:r>
          </a:p>
          <a:p>
            <a:pPr>
              <a:defRPr sz="1200">
                <a:solidFill>
                  <a:srgbClr val="10B981"/>
                </a:solidFill>
              </a:defRPr>
            </a:pPr>
            <a:r>
              <a:t>Working Product URL: http://127.0.0.1:8000 • Sialkot &amp; Faisalabad Export Clusters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CORETECH INNOVATION | NLP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9144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Problem Statement: The Exporter Language &amp; Know-How Barrier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3200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B981"/>
                </a:solidFill>
              </a:defRPr>
            </a:pPr>
            <a:r>
              <a:t>DEMO: http://127.0.0.1:8000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29184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 rIns="182880" bIns="16459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1. Language Barrier</a:t>
            </a:r>
          </a:p>
          <a:p>
            <a:pPr>
              <a:spcAft>
                <a:spcPts val="300"/>
              </a:spcAft>
              <a:defRPr sz="900" b="1">
                <a:solidFill>
                  <a:srgbClr val="10B981"/>
                </a:solidFill>
              </a:defRPr>
            </a:pPr>
            <a:r>
              <a:t>[CRITICAL BARRIER]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Pakistani manufacturers in Sialkot (leather, surgical, sports) and Faisalabad (textiles) think, sell, and negotiate in Urdu or Roman Urdu.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Global buyers on Alibaba and Amazon search strictly in commercial, keyword-rich English.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Traditional translators lack export trade terminology, resulting in lost ranking and buyer confusion.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280160"/>
            <a:ext cx="329184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 rIns="182880" bIns="16459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2. Marketplace Complexity</a:t>
            </a:r>
          </a:p>
          <a:p>
            <a:pPr>
              <a:spcAft>
                <a:spcPts val="300"/>
              </a:spcAft>
              <a:defRPr sz="900" b="1">
                <a:solidFill>
                  <a:srgbClr val="10B981"/>
                </a:solidFill>
              </a:defRPr>
            </a:pPr>
            <a:r>
              <a:t>[COMPLIANCE &amp; SEO]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Alibaba &amp; Amazon enforce strict character limits, mandatory 5-bullet benefit structures, and backend SEO tags.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Exporters struggle to format titles, attributes, and search keywords for algorithmic visibility.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Manual copy-pasting between external tools is slow, confusing, and prone to costly compliance errors.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280160"/>
            <a:ext cx="329184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 rIns="182880" bIns="16459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3. Pricing &amp; Compliance Blindspots</a:t>
            </a:r>
          </a:p>
          <a:p>
            <a:pPr>
              <a:spcAft>
                <a:spcPts val="300"/>
              </a:spcAft>
              <a:defRPr sz="900" b="1">
                <a:solidFill>
                  <a:srgbClr val="10B981"/>
                </a:solidFill>
              </a:defRPr>
            </a:pPr>
            <a:r>
              <a:t>[REVENUE LOSS]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Exporters rarely know US and EU market willingness-to-pay and consistently under-price by 20% to 30%.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Choosing between Payoneer and Wise for international payouts is confusing.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FBR 0.25% export tax regime and bank e-PRC requirements are hard to navigate.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CORETECH INNOVATION | NLP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9144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Proposed Solution: End-to-End AI Export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3200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B981"/>
                </a:solidFill>
              </a:defRPr>
            </a:pPr>
            <a:r>
              <a:t>DEMO: http://127.0.0.1:8000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1206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 rIns="182880" bIns="16459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Urdu-First Product Capture</a:t>
            </a:r>
          </a:p>
          <a:p>
            <a:pPr>
              <a:spcAft>
                <a:spcPts val="300"/>
              </a:spcAft>
              <a:defRPr sz="900" b="1">
                <a:solidFill>
                  <a:srgbClr val="10B981"/>
                </a:solidFill>
              </a:defRPr>
            </a:pPr>
            <a:r>
              <a:t>[VOICE &amp; TEXT]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Speak or type in conversational Urdu or Roman Urdu.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Preprocesses unicode and normalizes verbal numbers ('paanch sau' -&gt; 500, 'challis dollar' -&gt; $40, 'chamra' -&gt; leather).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Speech-to-Text integration via Web Audio / Speech API.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1206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 rIns="182880" bIns="16459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Smart Urdu Slot-Filling Dialogue</a:t>
            </a:r>
          </a:p>
          <a:p>
            <a:pPr>
              <a:spcAft>
                <a:spcPts val="300"/>
              </a:spcAft>
              <a:defRPr sz="900" b="1">
                <a:solidFill>
                  <a:srgbClr val="10B981"/>
                </a:solidFill>
              </a:defRPr>
            </a:pPr>
            <a:r>
              <a:t>[ACTIVE DIALOGUE]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Category-specific schema validation.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If key commercial attributes (MOQ, material, dimensions) are missing, the AI prompts the exporter in natural conversational Urdu.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Dynamically adapts to ANY product (Watches, Toys, Balls, Apparel, Surgical).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1206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 rIns="182880" bIns="16459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RAG Generation &amp; 0-100 Quality Scorer</a:t>
            </a:r>
          </a:p>
          <a:p>
            <a:pPr>
              <a:spcAft>
                <a:spcPts val="300"/>
              </a:spcAft>
              <a:defRPr sz="900" b="1">
                <a:solidFill>
                  <a:srgbClr val="10B981"/>
                </a:solidFill>
              </a:defRPr>
            </a:pPr>
            <a:r>
              <a:t>[HIGH CONVERSION]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Curated top-seller style retrieval creates marketplace-ready titles, 5 benefit-driven bullets, and 15 SEO keywords.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Official 5-dimension rubric judges completeness (0-100).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Auto-improve feedback loop refines listing until score &gt;= 80.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1206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 rIns="182880" bIns="16459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1-Click Publish &amp; Negotiation Agent</a:t>
            </a:r>
          </a:p>
          <a:p>
            <a:pPr>
              <a:spcAft>
                <a:spcPts val="300"/>
              </a:spcAft>
              <a:defRPr sz="900" b="1">
                <a:solidFill>
                  <a:srgbClr val="10B981"/>
                </a:solidFill>
              </a:defRPr>
            </a:pPr>
            <a:r>
              <a:t>[HUMAN-IN-THE-LOOP]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One-click publish to simulated Alibaba Trade Showcase &amp; Amazon SP-API.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Autonomous Buyer Communication Agent translates exporter's casual Urdu replies into tone-checked, professional B2B export English quotes.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CORETECH INNOVATION | NLP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9144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System Architecture: 5-Layer Engineering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3200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B981"/>
                </a:solidFill>
              </a:defRPr>
            </a:pPr>
            <a:r>
              <a:t>DEMO: http://127.0.0.1:8000</a:t>
            </a:r>
          </a:p>
        </p:txBody>
      </p:sp>
      <p:pic>
        <p:nvPicPr>
          <p:cNvPr id="6" name="Picture 5" descr="diagra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6766560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263640"/>
            <a:ext cx="6766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Figure: Five-Layer Production System Architecture (CoreTech Innovation)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280160"/>
            <a:ext cx="365760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 rIns="182880" bIns="16459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Architectural Highlights</a:t>
            </a:r>
          </a:p>
          <a:p>
            <a:pPr>
              <a:spcAft>
                <a:spcPts val="300"/>
              </a:spcAft>
              <a:defRPr sz="900" b="1">
                <a:solidFill>
                  <a:srgbClr val="10B981"/>
                </a:solidFill>
              </a:defRPr>
            </a:pPr>
            <a:r>
              <a:t>[5-LAYER DESIGN]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1. Client Layer: Responsive web dashboard supporting Urdu/Roman Urdu text, voice recording, live chips, and preview tabs.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2. Application Layer: FastAPI microservice orchestrator handling async NLP execution, JWT auth, and draft persistence.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3. AI/NLP Layer: Preprocessor, Pydantic NER extractor, slot dialogue manager, RAG vector store, and rubric judge.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4. Integration Layer: Mock Alibaba Publish API and Amazon SP-API with realistic ASIN and listing ID allocation.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5. Data Layer: SQLite database storing users, shops, listings, market benchmarks, and buyer inquiry logs.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CORETECH INNOVATION | NLP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9144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Methodology: 7-Stage NLP Pipeline &amp; Quality Feedback Loops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3200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B981"/>
                </a:solidFill>
              </a:defRPr>
            </a:pPr>
            <a:r>
              <a:t>DEMO: http://127.0.0.1:8000</a:t>
            </a:r>
          </a:p>
        </p:txBody>
      </p:sp>
      <p:pic>
        <p:nvPicPr>
          <p:cNvPr id="6" name="Picture 5" descr="diagram_method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6766560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263640"/>
            <a:ext cx="6766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Figure: 7-Stage NLP Methodology Flowchart with Slot-Filling &amp; Auto-Improve Feedback Loops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280160"/>
            <a:ext cx="365760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 rIns="182880" bIns="16459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Pipeline Stages &amp; Quality Rubric</a:t>
            </a:r>
          </a:p>
          <a:p>
            <a:pPr>
              <a:spcAft>
                <a:spcPts val="300"/>
              </a:spcAft>
              <a:defRPr sz="900" b="1">
                <a:solidFill>
                  <a:srgbClr val="10B981"/>
                </a:solidFill>
              </a:defRPr>
            </a:pPr>
            <a:r>
              <a:t>[7-STAGE PIPELINE]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Stage 0-1: Capture &amp; Preprocess (Unicode normalization, verbal numbers, unit mapping).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Stage 2: Structured NER extraction validated with Pydantic JSON schema.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Stage 3: Slot checking against category schema; generates conversational Urdu follow-up if missing.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Stage 4: Prompted LLM / RAG listing generator (title, 5 bullets, 15 SEO tags).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Stage 5: Platform formatter (Alibaba 128-char limit &amp; Amazon SP-API schema).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Stage 6: 0-100 Rubric Scorer. If score &lt; 80, auto-improves (up to 2 iterations).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Stage 7: Exporter reviews Urdu summary and clicks Approve to publish live.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CORETECH INNOVATION | NLP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9144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Universal Product Intelligence: Dynamic for ANY Industry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3200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B981"/>
                </a:solidFill>
              </a:defRPr>
            </a:pPr>
            <a:r>
              <a:t>DEMO: http://127.0.0.1:8000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12064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 rIns="182880" bIns="16459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⌚ Watches &amp; Timepieces</a:t>
            </a:r>
          </a:p>
          <a:p>
            <a:pPr>
              <a:spcAft>
                <a:spcPts val="300"/>
              </a:spcAft>
              <a:defRPr sz="900" b="1">
                <a:solidFill>
                  <a:srgbClr val="10B981"/>
                </a:solidFill>
              </a:defRPr>
            </a:pPr>
            <a:r>
              <a:t>[CATEGORY ADAPTIVE]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Detects Quartz, Chronograph, Smartwatches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Follow-up: Stainless Steel 316L, Leather Strap, Water Resistance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Generates dial logo OEM &amp; luxury presentation packaging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12064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 rIns="182880" bIns="16459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🧸 Toys &amp; Kids Products</a:t>
            </a:r>
          </a:p>
          <a:p>
            <a:pPr>
              <a:spcAft>
                <a:spcPts val="300"/>
              </a:spcAft>
              <a:defRPr sz="900" b="1">
                <a:solidFill>
                  <a:srgbClr val="10B981"/>
                </a:solidFill>
              </a:defRPr>
            </a:pPr>
            <a:r>
              <a:t>[CATEGORY ADAPTIVE]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Detects STEM toys, plush, dolls, RC models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Follow-up: Non-toxic ABS plastic, solid wood, child age group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Generates ASTM F963 &amp; EN71 child safety compliance bullets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49039"/>
            <a:ext cx="512064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 rIns="182880" bIns="16459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⚽ Sports Goods &amp; Balls</a:t>
            </a:r>
          </a:p>
          <a:p>
            <a:pPr>
              <a:spcAft>
                <a:spcPts val="300"/>
              </a:spcAft>
              <a:defRPr sz="900" b="1">
                <a:solidFill>
                  <a:srgbClr val="10B981"/>
                </a:solidFill>
              </a:defRPr>
            </a:pPr>
            <a:r>
              <a:t>[CATEGORY ADAPTIVE]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Detects Match Footballs, Soccer, Cricket, Boxing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Follow-up: PU leather, 32 panels, official Size 5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Generates tournament aerodynamic flight &amp; federation branding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749039"/>
            <a:ext cx="512064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 rIns="182880" bIns="16459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🧥 Leather &amp; Textiles</a:t>
            </a:r>
          </a:p>
          <a:p>
            <a:pPr>
              <a:spcAft>
                <a:spcPts val="300"/>
              </a:spcAft>
              <a:defRPr sz="900" b="1">
                <a:solidFill>
                  <a:srgbClr val="10B981"/>
                </a:solidFill>
              </a:defRPr>
            </a:pPr>
            <a:r>
              <a:t>[CATEGORY ADAPTIVE]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Detects Leather jackets, coats, hotel towels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Follow-up: Genuine cowhide, cotton GSM, M-XXL sizing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Generates Sialkot/Faisalabad export advantage bullets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CORETECH INNOVATION | NLP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9144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Live UI Screenshot: Exporter Dashboard &amp; Presets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3200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B981"/>
                </a:solidFill>
              </a:defRPr>
            </a:pPr>
            <a:r>
              <a:t>DEMO: http://127.0.0.1:8000</a:t>
            </a:r>
          </a:p>
        </p:txBody>
      </p:sp>
      <p:pic>
        <p:nvPicPr>
          <p:cNvPr id="6" name="Picture 5" descr="ss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6766560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263640"/>
            <a:ext cx="6766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Screenshot 1: Live Web Dashboard with One-Click Exporter Presets &amp; Urdu Input (localhost:8000)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280160"/>
            <a:ext cx="365760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 rIns="182880" bIns="16459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Dashboard Features</a:t>
            </a:r>
          </a:p>
          <a:p>
            <a:pPr>
              <a:spcAft>
                <a:spcPts val="300"/>
              </a:spcAft>
              <a:defRPr sz="900" b="1">
                <a:solidFill>
                  <a:srgbClr val="10B981"/>
                </a:solidFill>
              </a:defRPr>
            </a:pPr>
            <a:r>
              <a:t>[LIVE DASHBOARD]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1. Bilingual Header: CoreTech Innovation branding, Sialkot/Faisalabad cluster badge, and PPT Deck link.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2. One-Click Exporter Presets: Pre-configured test benchmarks for Leather Jackets, Watches, Toys, Footballs, Surgical Scissors, and Towels.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3. Voice / Text Input Box: Exporter enters natural Urdu or Roman Urdu with microphone capture simulation.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4. Target Marketplace Selector: One-click selection for Alibaba (B2B), Amazon (B2C), or Both.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5. Target Country Selector: USA, UK, Germany, UAE.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CORETECH INNOVATION | NLP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9144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Live UI Screenshot: Smart Urdu Slot-Filling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3200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B981"/>
                </a:solidFill>
              </a:defRPr>
            </a:pPr>
            <a:r>
              <a:t>DEMO: http://127.0.0.1:8000</a:t>
            </a:r>
          </a:p>
        </p:txBody>
      </p:sp>
      <p:pic>
        <p:nvPicPr>
          <p:cNvPr id="6" name="Picture 5" descr="ss_slot_follow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6766560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263640"/>
            <a:ext cx="6766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Screenshot 2: AI Dialog Manager detecting missing MOQ on Surgical Scissors and prompting in Urdu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280160"/>
            <a:ext cx="365760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 rIns="182880" bIns="16459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Conversational Slot Filling</a:t>
            </a:r>
          </a:p>
          <a:p>
            <a:pPr>
              <a:spcAft>
                <a:spcPts val="300"/>
              </a:spcAft>
              <a:defRPr sz="900" b="1">
                <a:solidFill>
                  <a:srgbClr val="10B981"/>
                </a:solidFill>
              </a:defRPr>
            </a:pPr>
            <a:r>
              <a:t>[URDU DIALOGUE LOOP]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• Missing Attribute Detection: The Pydantic schema checks if required commercial slots are present.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• Natural Urdu Prompting: When missing MOQ, the system renders a prominent conversational alert card in Urdu font (Noto Nastaliq Urdu).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• Zero Middleman Friction: The exporter types an answer casually (e.g. 'MOQ 500 pieces').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• Dynamic Product-Specific Questions: For watches, it asks about case material; for toys, child safety &amp; age group; for balls, ball size matrix.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CORETECH INNOVATION | NLP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9144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Live UI Screenshot: RAG Listing Preview &amp; Quality Scorer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3200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B981"/>
                </a:solidFill>
              </a:defRPr>
            </a:pPr>
            <a:r>
              <a:t>DEMO: http://127.0.0.1:8000</a:t>
            </a:r>
          </a:p>
        </p:txBody>
      </p:sp>
      <p:pic>
        <p:nvPicPr>
          <p:cNvPr id="6" name="Picture 5" descr="ss_listing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6766560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263640"/>
            <a:ext cx="6766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Screenshot 3: RAG Listing Output (Title, 5 Bullets, 15 Keywords) and 0-100 Rubric Quality Gauge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280160"/>
            <a:ext cx="365760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 rIns="182880" bIns="16459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High-Converting Export Listing</a:t>
            </a:r>
          </a:p>
          <a:p>
            <a:pPr>
              <a:spcAft>
                <a:spcPts val="300"/>
              </a:spcAft>
              <a:defRPr sz="900" b="1">
                <a:solidFill>
                  <a:srgbClr val="10B981"/>
                </a:solidFill>
              </a:defRPr>
            </a:pPr>
            <a:r>
              <a:t>[EXPORT-READY OUTPUT]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• Title Optimization: Character-length compliant title with primary commercial keywords.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• 5 Buyer-Focused Bullets: Structured around durability, OEM customization, factory direct pricing, and transit timelines.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• 15 Backend SEO Keywords: High-intent B2B search terms for North America and European buyers.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• Quality Rubric Score: Evaluated across 5 dimensions with a 94/100 composite score.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• Urdu Approval Summary: Exporter reviews an Urdu summary before approving for publish.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CORETECH INNOVATION | NLP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9144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Live Marketplace Previews: Alibaba Trade &amp; Amazon SP-API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3200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B981"/>
                </a:solidFill>
              </a:defRPr>
            </a:pPr>
            <a:r>
              <a:t>DEMO: http://127.0.0.1:8000</a:t>
            </a:r>
          </a:p>
        </p:txBody>
      </p:sp>
      <p:pic>
        <p:nvPicPr>
          <p:cNvPr id="6" name="Picture 5" descr="ss_aliba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212080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263640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Screenshot 4: Verified Alibaba Gold Supplier Showcase (/marketplace/alibaba/sample)</a:t>
            </a:r>
          </a:p>
        </p:txBody>
      </p:sp>
      <p:pic>
        <p:nvPicPr>
          <p:cNvPr id="8" name="Picture 7" descr="ss_amaz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212080" cy="4937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6263640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Screenshot 5: Amazon Seller Central Buy Box &amp; SP-API Catalog (/marketplace/amazon/sample)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CORETECH INNOVATION | NLP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9144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Live UI Screenshot: Buyer Communication Agent Simulator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3200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B981"/>
                </a:solidFill>
              </a:defRPr>
            </a:pPr>
            <a:r>
              <a:t>DEMO: http://127.0.0.1:8000</a:t>
            </a:r>
          </a:p>
        </p:txBody>
      </p:sp>
      <p:pic>
        <p:nvPicPr>
          <p:cNvPr id="6" name="Picture 5" descr="ss_buyer_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6766560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263640"/>
            <a:ext cx="6766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Screenshot 6: Buyer RFQ received -&gt; Urdu escalation alert -&gt; Synthesized B2B English reply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280160"/>
            <a:ext cx="365760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 rIns="182880" bIns="16459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Autonomous Negotiation Loop</a:t>
            </a:r>
          </a:p>
          <a:p>
            <a:pPr>
              <a:spcAft>
                <a:spcPts val="300"/>
              </a:spcAft>
              <a:defRPr sz="900" b="1">
                <a:solidFill>
                  <a:srgbClr val="10B981"/>
                </a:solidFill>
              </a:defRPr>
            </a:pPr>
            <a:r>
              <a:t>[NEGOTIATION AGENT]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1. Incoming Buyer Message: Commercial buyer in Chicago inquires: 'Can you do 200 watches with custom logo on the dial? What is your FOB price?'.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2. AI Agent Urdu Alert: Agent translates inquiry intent and alerts the exporter in Urdu: 'USA ke buyer ne custom quote maanga hai. Aap ka kya rate hai?'.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3. Exporter Casual Urdu Reply: Exporter responds casually: 'iska rate 26 dollar hai aur 12 din lagain gay'.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4. Synthesized English Quote: Agent crafts a courteous, tone-checked B2B quotation confirming $26.00 FOB price and 12-day turnaround.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CORETECH INNOVATION | NLP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9144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Financial &amp; Compliance: Payment Optimizer &amp; FBR 0.25% 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3200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B981"/>
                </a:solidFill>
              </a:defRPr>
            </a:pPr>
            <a:r>
              <a:t>DEMO: http://127.0.0.1:8000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 rIns="182880" bIns="16459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Payment Gateway Optimizer</a:t>
            </a:r>
          </a:p>
          <a:p>
            <a:pPr>
              <a:spcAft>
                <a:spcPts val="300"/>
              </a:spcAft>
              <a:defRPr sz="900" b="1">
                <a:solidFill>
                  <a:srgbClr val="10B981"/>
                </a:solidFill>
              </a:defRPr>
            </a:pPr>
            <a:r>
              <a:t>[GATEWAY OPTIMIZER]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• Payoneer vs Wise Fee Comparison: Evaluates transaction fees and foreign exchange margins based on buyer country.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• USA &amp; North America Orders: Recommends Payoneer for direct integration with Amazon payouts and Alibaba Trade Assurance disbursements.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• UK &amp; European Orders: Recommends Wise Business for direct SEPA / IBAN bank transfers with lower conversion spreads.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• Transparent Fee Breakdown: Displays estimated gateway fees and net exporter payout in USD &amp; PKR.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12064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 rIns="182880" bIns="16459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FBR 0.25% Export Tax Regime</a:t>
            </a:r>
          </a:p>
          <a:p>
            <a:pPr>
              <a:spcAft>
                <a:spcPts val="300"/>
              </a:spcAft>
              <a:defRPr sz="900" b="1">
                <a:solidFill>
                  <a:srgbClr val="10B981"/>
                </a:solidFill>
              </a:defRPr>
            </a:pPr>
            <a:r>
              <a:t>[FBR TAX COMPLIANCE]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• Concessionary Export Slab: Guides manufacturers to qualify for the 0.25% Final Tax Regime under PSEB &amp; Export Incentive policies (saving 0.75% vs standard 1% withholding).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• Electronic Proceeds Realization Certificate (e-PRC): Emphasizes obtaining digital e-PRC certificates from commercial Pakistani banks upon remittance arrival.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• Exporter Guidance in Urdu: Delivers clear, non-technical tax advice so factory owners stay fully compliant without hiring expensive consultants.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CORETECH INNOVATION | NLP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9144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Hackathon Demo Pitch Video Script (Exact 3-Minute Timing)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3200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B981"/>
                </a:solidFill>
              </a:defRPr>
            </a:pPr>
            <a:r>
              <a:t>DEMO: http://127.0.0.1:8000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1069848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0F172A"/>
                </a:solidFill>
              </a:defRPr>
            </a:pPr>
            <a:r>
              <a:t>[0:00 - 0:30] The Hook &amp; Problem: </a:t>
            </a:r>
            <a:r>
              <a:rPr b="0" sz="1000">
                <a:solidFill>
                  <a:srgbClr val="64748B"/>
                </a:solidFill>
              </a:rPr>
              <a:t>Show a real Urdu description from a Sialkot exporter. Ask: 'How does an Urdu speaker reach buyers in the USA without getting ripped off?'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47672"/>
            <a:ext cx="1069848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0F172A"/>
                </a:solidFill>
              </a:defRPr>
            </a:pPr>
            <a:r>
              <a:t>[0:30 - 1:00] Voice / Urdu Input: </a:t>
            </a:r>
            <a:r>
              <a:rPr b="0" sz="1000">
                <a:solidFill>
                  <a:srgbClr val="64748B"/>
                </a:solidFill>
              </a:rPr>
              <a:t>Speak or type the Urdu sentence into the dashboard. Show live extracted tags (Product, Material, MOQ, Price) appearing instantly.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60904"/>
            <a:ext cx="1069848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0F172A"/>
                </a:solidFill>
              </a:defRPr>
            </a:pPr>
            <a:r>
              <a:t>[1:00 - 1:20] Smart Urdu Slot Loop: </a:t>
            </a:r>
            <a:r>
              <a:rPr b="0" sz="1000">
                <a:solidFill>
                  <a:srgbClr val="64748B"/>
                </a:solidFill>
              </a:rPr>
              <a:t>Demonstrate missing MOQ on surgical scissors. System asks conversational Urdu question. Answer it, watch listing complete.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74136"/>
            <a:ext cx="1069848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0F172A"/>
                </a:solidFill>
              </a:defRPr>
            </a:pPr>
            <a:r>
              <a:t>[1:20 - 1:50] RAG Output &amp; 0-100 Score: </a:t>
            </a:r>
            <a:r>
              <a:rPr b="0" sz="1000">
                <a:solidFill>
                  <a:srgbClr val="64748B"/>
                </a:solidFill>
              </a:rPr>
              <a:t>Showcase generated English title, 5 bullets, 15 SEO keywords. Point to 0-100 quality score gauge and auto-improve loop.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87368"/>
            <a:ext cx="1069848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0F172A"/>
                </a:solidFill>
              </a:defRPr>
            </a:pPr>
            <a:r>
              <a:t>[1:50 - 2:10] Market Intelligence: </a:t>
            </a:r>
            <a:r>
              <a:rPr b="0" sz="1000">
                <a:solidFill>
                  <a:srgbClr val="64748B"/>
                </a:solidFill>
              </a:rPr>
              <a:t>Show suggested price ($48 vs $40 base), margin radar (+32%), and Payoneer vs Wise FBR 0.25% tax guidance.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800600"/>
            <a:ext cx="1069848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0F172A"/>
                </a:solidFill>
              </a:defRPr>
            </a:pPr>
            <a:r>
              <a:t>[2:10 - 2:30] 1-Click Publish Live: </a:t>
            </a:r>
            <a:r>
              <a:rPr b="0" sz="1000">
                <a:solidFill>
                  <a:srgbClr val="64748B"/>
                </a:solidFill>
              </a:rPr>
              <a:t>Click 'Approve &amp; Publish'. Open live Alibaba Trade Showcase and Amazon SP-API pages with live URLs.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513831"/>
            <a:ext cx="1069848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0F172A"/>
                </a:solidFill>
              </a:defRPr>
            </a:pPr>
            <a:r>
              <a:t>[2:30 - 3:00] Buyer Agent &amp; Roadmap: </a:t>
            </a:r>
            <a:r>
              <a:rPr b="0" sz="1000">
                <a:solidFill>
                  <a:srgbClr val="64748B"/>
                </a:solidFill>
              </a:rPr>
              <a:t>Demonstrate live buyer inquiry simulation; state honest MVP limitations (mock APIs) and Phase 2-5 roadmap.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CORETECH INNOVATION | NLP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9144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Business Model &amp; 12-Month Execution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3200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B981"/>
                </a:solidFill>
              </a:defRPr>
            </a:pPr>
            <a:r>
              <a:t>DEMO: http://127.0.0.1:8000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29184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 rIns="182880" bIns="16459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SaaS Pricing Tiers</a:t>
            </a:r>
          </a:p>
          <a:p>
            <a:pPr>
              <a:spcAft>
                <a:spcPts val="300"/>
              </a:spcAft>
              <a:defRPr sz="900" b="1">
                <a:solidFill>
                  <a:srgbClr val="10B981"/>
                </a:solidFill>
              </a:defRPr>
            </a:pPr>
            <a:r>
              <a:t>[SUBSCRIPTION TIERS]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Starter ($29/mo): Urdu-to-English listings, Alibaba &amp; Amazon formatting, quality scoring.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Pro ($49/mo): Everything in Starter + Market pricing intelligence + Payment optimizer.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Business ($99/mo): Everything in Pro + Buyer reply agent + FBR tax reports + Priority dispatch.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Path to $1M ARR: 100 paid users by Month 6 ($5k/mo); 1,000+ paid users by Month 12 ($50k+/mo).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280160"/>
            <a:ext cx="694944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 rIns="182880" bIns="16459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12-Month Execution Roadmap</a:t>
            </a:r>
          </a:p>
          <a:p>
            <a:pPr>
              <a:spcAft>
                <a:spcPts val="300"/>
              </a:spcAft>
              <a:defRPr sz="900" b="1">
                <a:solidFill>
                  <a:srgbClr val="10B981"/>
                </a:solidFill>
              </a:defRPr>
            </a:pPr>
            <a:r>
              <a:t>[5-PHASE STAGED EXECUTION]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Phase 1 (Day 1 - Month 1) [Hackathon MVP]: Working demo, 10 exporter interviews in Sialkot, apply for Alibaba &amp; Amazon developer accounts.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Phase 2 (Months 2 - 3) [Official APIs]: Live OAuth2 marketplace connectors, real-time Alibaba RFQ &amp; Amazon SP-API feeds, free beta with 50 exporters.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Phase 3 (Months 4 - 6) [Monetization]: Stripe &amp; Safepay billing live, payment optimizer, tax module launch, target: 100 paying customers ($5k/mo).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Phase 4 (Months 7 - 9) [Scaling]: Buyer auto-reply agent, mobile app for factory managers, regional expansion to Bangladesh &amp; Sri Lanka.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Phase 5 (Months 10 - 12) [Market Leader]: 100-SKU bulk catalog importer, automated competitor price tracking alerts, factory direct sales team.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CORETECH INNOVATION | NLP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9144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Team CoreTech Innovation &amp; Shared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3200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B981"/>
                </a:solidFill>
              </a:defRPr>
            </a:pPr>
            <a:r>
              <a:t>DEMO: http://127.0.0.1:8000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10698480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0F172A"/>
                </a:solidFill>
              </a:defRPr>
            </a:pPr>
            <a:r>
              <a:t>Sufyan Arain </a:t>
            </a:r>
            <a:r>
              <a:rPr b="1" sz="1100">
                <a:solidFill>
                  <a:srgbClr val="0284C7"/>
                </a:solidFill>
              </a:rPr>
              <a:t>— TEAM LEAD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Primary Contributions: Project architecture, integration, demo pitch, final submission delivery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40280"/>
            <a:ext cx="10698480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0F172A"/>
                </a:solidFill>
              </a:defRPr>
            </a:pPr>
            <a:r>
              <a:t>Shahzaib Sheikh </a:t>
            </a:r>
            <a:r>
              <a:rPr b="1" sz="1100">
                <a:solidFill>
                  <a:srgbClr val="0284C7"/>
                </a:solidFill>
              </a:rPr>
              <a:t>— BACKEND DEVELOPER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Primary Contributions: FastAPI microservices, mock marketplace APIs, SQLite database schema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00400"/>
            <a:ext cx="10698480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0F172A"/>
                </a:solidFill>
              </a:defRPr>
            </a:pPr>
            <a:r>
              <a:t>Sehar </a:t>
            </a:r>
            <a:r>
              <a:rPr b="1" sz="1100">
                <a:solidFill>
                  <a:srgbClr val="0284C7"/>
                </a:solidFill>
              </a:rPr>
              <a:t>— AI / ML ENGINEER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Primary Contributions: NLP pipeline, prompt engineering, rubric scoring engine, RAG store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60520"/>
            <a:ext cx="10698480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0F172A"/>
                </a:solidFill>
              </a:defRPr>
            </a:pPr>
            <a:r>
              <a:t>Nimra </a:t>
            </a:r>
            <a:r>
              <a:rPr b="1" sz="1100">
                <a:solidFill>
                  <a:srgbClr val="0284C7"/>
                </a:solidFill>
              </a:rPr>
              <a:t>— UI / UX DESIGNER &amp; FRONTEND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Primary Contributions: Responsive dashboard layout, Noto Nastaliq Urdu styling, live preview pages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120640"/>
            <a:ext cx="10698480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0F172A"/>
                </a:solidFill>
              </a:defRPr>
            </a:pPr>
            <a:r>
              <a:t>Zammad </a:t>
            </a:r>
            <a:r>
              <a:rPr b="1" sz="1100">
                <a:solidFill>
                  <a:srgbClr val="0284C7"/>
                </a:solidFill>
              </a:rPr>
              <a:t>— RESEARCHER &amp; DOCUMENTATION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Primary Contributions: Sialkot/Faisalabad export pain points, test datasets, README &amp; pitch script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